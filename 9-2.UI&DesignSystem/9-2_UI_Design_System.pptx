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9f7a4839af424a" /><Relationship Type="http://schemas.openxmlformats.org/officeDocument/2006/relationships/extended-properties" Target="/docProps/app.xml" Id="R357dd81a99104507" /><Relationship Type="http://schemas.openxmlformats.org/officeDocument/2006/relationships/officeDocument" Target="/ppt/presentation.xml" Id="R877fb5078a3244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c4b3797b4f4246"/>
  </p:sldMasterIdLst>
  <p:notesMasterIdLst>
    <p:notesMasterId xmlns:r="http://schemas.openxmlformats.org/officeDocument/2006/relationships" r:id="Rc67caf587561451e"/>
  </p:notesMasterIdLst>
  <p:sldIdLst>
    <p:sldId xmlns:r="http://schemas.openxmlformats.org/officeDocument/2006/relationships" id="256" r:id="Ra200f32fe5794c50"/>
    <p:sldId xmlns:r="http://schemas.openxmlformats.org/officeDocument/2006/relationships" id="257" r:id="Rcad67ce4798b49ba"/>
    <p:sldId xmlns:r="http://schemas.openxmlformats.org/officeDocument/2006/relationships" id="258" r:id="R38202c6fcd1f466e"/>
    <p:sldId xmlns:r="http://schemas.openxmlformats.org/officeDocument/2006/relationships" id="259" r:id="Rd45da80eb889409a"/>
    <p:sldId xmlns:r="http://schemas.openxmlformats.org/officeDocument/2006/relationships" id="260" r:id="R918e847698cc47ed"/>
    <p:sldId xmlns:r="http://schemas.openxmlformats.org/officeDocument/2006/relationships" id="261" r:id="R2976eafcd8474312"/>
    <p:sldId xmlns:r="http://schemas.openxmlformats.org/officeDocument/2006/relationships" id="262" r:id="R0c4bfbc9ef6f4c20"/>
    <p:sldId xmlns:r="http://schemas.openxmlformats.org/officeDocument/2006/relationships" id="263" r:id="Rae705f7d93f64c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42f19c34794de5" /><Relationship Type="http://schemas.openxmlformats.org/officeDocument/2006/relationships/slideMaster" Target="/ppt/slideMasters/slideMaster1.xml" Id="R39c4b3797b4f4246" /><Relationship Type="http://schemas.openxmlformats.org/officeDocument/2006/relationships/notesMaster" Target="/ppt/notesMasters/notesMaster1.xml" Id="Rc67caf587561451e" /><Relationship Type="http://schemas.openxmlformats.org/officeDocument/2006/relationships/presProps" Target="/ppt/presProps.xml" Id="R624c6083870a478e" /><Relationship Type="http://schemas.openxmlformats.org/officeDocument/2006/relationships/tableStyles" Target="/ppt/tableStyles.xml" Id="R37fda0a1d2464a29" /><Relationship Type="http://schemas.openxmlformats.org/officeDocument/2006/relationships/slide" Target="/ppt/slides/slide1.xml" Id="Ra200f32fe5794c50" /><Relationship Type="http://schemas.openxmlformats.org/officeDocument/2006/relationships/slide" Target="/ppt/slides/slide2.xml" Id="Rcad67ce4798b49ba" /><Relationship Type="http://schemas.openxmlformats.org/officeDocument/2006/relationships/slide" Target="/ppt/slides/slide3.xml" Id="R38202c6fcd1f466e" /><Relationship Type="http://schemas.openxmlformats.org/officeDocument/2006/relationships/slide" Target="/ppt/slides/slide4.xml" Id="Rd45da80eb889409a" /><Relationship Type="http://schemas.openxmlformats.org/officeDocument/2006/relationships/slide" Target="/ppt/slides/slide5.xml" Id="R918e847698cc47ed" /><Relationship Type="http://schemas.openxmlformats.org/officeDocument/2006/relationships/slide" Target="/ppt/slides/slide6.xml" Id="R2976eafcd8474312" /><Relationship Type="http://schemas.openxmlformats.org/officeDocument/2006/relationships/slide" Target="/ppt/slides/slide7.xml" Id="R0c4bfbc9ef6f4c20" /><Relationship Type="http://schemas.openxmlformats.org/officeDocument/2006/relationships/slide" Target="/ppt/slides/slide8.xml" Id="Rae705f7d93f64c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addad4a52b42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3fa6a53b534caa" /><Relationship Type="http://schemas.openxmlformats.org/officeDocument/2006/relationships/notesMaster" Target="/ppt/notesMasters/notesMaster1.xml" Id="R3fc98eb4e4044a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6b34fdff6742eb" /><Relationship Type="http://schemas.openxmlformats.org/officeDocument/2006/relationships/notesMaster" Target="/ppt/notesMasters/notesMaster1.xml" Id="R6db48a08059042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c60d0b24b54d6b" /><Relationship Type="http://schemas.openxmlformats.org/officeDocument/2006/relationships/notesMaster" Target="/ppt/notesMasters/notesMaster1.xml" Id="Raae6027c19624b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20aa81d3d0430d" /><Relationship Type="http://schemas.openxmlformats.org/officeDocument/2006/relationships/notesMaster" Target="/ppt/notesMasters/notesMaster1.xml" Id="Rb1f35fd9a4c245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ef599194af4d51" /><Relationship Type="http://schemas.openxmlformats.org/officeDocument/2006/relationships/notesMaster" Target="/ppt/notesMasters/notesMaster1.xml" Id="Rfd729d53feaa44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24983eeca24b50" /><Relationship Type="http://schemas.openxmlformats.org/officeDocument/2006/relationships/notesMaster" Target="/ppt/notesMasters/notesMaster1.xml" Id="R85b63b13fe5b44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6b8ced668c4e13" /><Relationship Type="http://schemas.openxmlformats.org/officeDocument/2006/relationships/notesMaster" Target="/ppt/notesMasters/notesMaster1.xml" Id="R8a48a3f9dd574f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17d1fe6ae0407e" /><Relationship Type="http://schemas.openxmlformats.org/officeDocument/2006/relationships/notesMaster" Target="/ppt/notesMasters/notesMaster1.xml" Id="Raedadf1ddb984e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Requester-provided course outline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Repository: openmetadata-ui/src/main/resources/ui/README.md</a:t>
            </a:r>
          </a:p>
          <a:p xmlns:a="http://schemas.openxmlformats.org/drawingml/2006/main">
            <a:r>
              <a:t>Repository: openmetadata-ui/src/main/resources/ui/package.json</a:t>
            </a:r>
          </a:p>
          <a:p xmlns:a="http://schemas.openxmlformats.org/drawingml/2006/main">
            <a:r>
              <a:t>Original SVG created for this presentation from the listed repository 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Repository: openmetadata-ui/src/main/resources/ui/json2ts.sh</a:t>
            </a:r>
          </a:p>
          <a:p xmlns:a="http://schemas.openxmlformats.org/drawingml/2006/main">
            <a:r>
              <a:t>Repository: openmetadata-spec/src/main/resources/json/schema/</a:t>
            </a:r>
          </a:p>
          <a:p xmlns:a="http://schemas.openxmlformats.org/drawingml/2006/main">
            <a:r>
              <a:t>Requester-provided course outline image.</a:t>
            </a:r>
          </a:p>
          <a:p xmlns:a="http://schemas.openxmlformats.org/drawingml/2006/main">
            <a:r>
              <a:t>Original SVG created for this presentation from the listed repository 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Repository: openmetadata-spec/src/main/resources/json/schema/configuration/themeConfiguration.json</a:t>
            </a:r>
          </a:p>
          <a:p xmlns:a="http://schemas.openxmlformats.org/drawingml/2006/main">
            <a:r>
              <a:t>Repository: openmetadata-ui/src/main/resources/ui/src/context/AntDConfigProvider/AntDConfigProvider.tsx</a:t>
            </a:r>
          </a:p>
          <a:p xmlns:a="http://schemas.openxmlformats.org/drawingml/2006/main">
            <a:r>
              <a:t>Official guide: https://docs.open-metadata.org/v1.13.x-SNAPSHOT/how-to-guides/guide-for-data-users/theme</a:t>
            </a:r>
          </a:p>
          <a:p xmlns:a="http://schemas.openxmlformats.org/drawingml/2006/main">
            <a:r>
              <a:t>Original SVG created for this presentation from the listed repository 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Repository: openmetadata-spec/src/main/resources/json/schema/entity/teams/persona.json</a:t>
            </a:r>
          </a:p>
          <a:p xmlns:a="http://schemas.openxmlformats.org/drawingml/2006/main">
            <a:r>
              <a:t>Repository: openmetadata-ui/src/main/resources/ui/src/hooks/useCustomPages.ts</a:t>
            </a:r>
          </a:p>
          <a:p xmlns:a="http://schemas.openxmlformats.org/drawingml/2006/main">
            <a:r>
              <a:t>Official guide: https://docs.open-metadata.org/v1.12.x/how-to-guides/admin-guide/persona-landing-page-customization/defining-persona</a:t>
            </a:r>
          </a:p>
          <a:p xmlns:a="http://schemas.openxmlformats.org/drawingml/2006/main">
            <a:r>
              <a:t>Original SVG created for this presentation from the listed repository 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Repository: openmetadata-ui/src/main/resources/ui/src/pages/CustomizablePage/CustomizablePage.tsx</a:t>
            </a:r>
          </a:p>
          <a:p xmlns:a="http://schemas.openxmlformats.org/drawingml/2006/main">
            <a:r>
              <a:t>Repository: openmetadata-ui/src/main/resources/ui/src/pages/MyDataPage/MyDataPage.component.tsx</a:t>
            </a:r>
          </a:p>
          <a:p xmlns:a="http://schemas.openxmlformats.org/drawingml/2006/main">
            <a:r>
              <a:t>Official guide: https://docs.open-metadata.org/v1.13.x-SNAPSHOT/how-to-guides/admin-guide/persona-landing-page-customization/customizable-landing-page</a:t>
            </a:r>
          </a:p>
          <a:p xmlns:a="http://schemas.openxmlformats.org/drawingml/2006/main">
            <a:r>
              <a:t>Original SVG created for this presentation from the listed repository 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Requester-provided course outline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Requester-provided course outline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f721924b64c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2610b94c684546" /><Relationship Type="http://schemas.openxmlformats.org/officeDocument/2006/relationships/slideLayout" Target="/ppt/slideLayouts/slideLayout1.xml" Id="R60bc9ee66eb849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bc9ee66eb849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64e7788afe4c37" /><Relationship Type="http://schemas.openxmlformats.org/officeDocument/2006/relationships/notesSlide" Target="/ppt/notesSlides/notesSlide1.xml" Id="R3ed766badb6742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18af788c746a1" /><Relationship Type="http://schemas.openxmlformats.org/officeDocument/2006/relationships/image" Target="/ppt/media/image.png" Id="Re50a77adc4784d66" /><Relationship Type="http://schemas.openxmlformats.org/officeDocument/2006/relationships/image" Target="/ppt/media/image.svg" Id="R411ba8ee7f3c4c15" /><Relationship Type="http://schemas.openxmlformats.org/officeDocument/2006/relationships/notesSlide" Target="/ppt/notesSlides/notesSlide2.xml" Id="R1794c115149d4c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af483ed0a4f02" /><Relationship Type="http://schemas.openxmlformats.org/officeDocument/2006/relationships/image" Target="/ppt/media/image2.png" Id="R53e25529107f472b" /><Relationship Type="http://schemas.openxmlformats.org/officeDocument/2006/relationships/image" Target="/ppt/media/image2.svg" Id="R1df898d4a52347e3" /><Relationship Type="http://schemas.openxmlformats.org/officeDocument/2006/relationships/notesSlide" Target="/ppt/notesSlides/notesSlide3.xml" Id="Ra7347c0509e14a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09ca77e534f33" /><Relationship Type="http://schemas.openxmlformats.org/officeDocument/2006/relationships/image" Target="/ppt/media/image3.png" Id="R6f0f07659d5e4546" /><Relationship Type="http://schemas.openxmlformats.org/officeDocument/2006/relationships/image" Target="/ppt/media/image3.svg" Id="Rfb1e50e962044e80" /><Relationship Type="http://schemas.openxmlformats.org/officeDocument/2006/relationships/notesSlide" Target="/ppt/notesSlides/notesSlide4.xml" Id="R2ae37a02658c4f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14bb09e7b49dc" /><Relationship Type="http://schemas.openxmlformats.org/officeDocument/2006/relationships/image" Target="/ppt/media/image4.png" Id="Ra24b38dde5844b73" /><Relationship Type="http://schemas.openxmlformats.org/officeDocument/2006/relationships/image" Target="/ppt/media/image4.svg" Id="Rea418e27b843478d" /><Relationship Type="http://schemas.openxmlformats.org/officeDocument/2006/relationships/notesSlide" Target="/ppt/notesSlides/notesSlide5.xml" Id="Raf53a2c3084d43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5bc745e6ca409e" /><Relationship Type="http://schemas.openxmlformats.org/officeDocument/2006/relationships/image" Target="/ppt/media/image5.png" Id="Rc185ae0f654342cc" /><Relationship Type="http://schemas.openxmlformats.org/officeDocument/2006/relationships/image" Target="/ppt/media/image5.svg" Id="Raaca535ce2ce4f8a" /><Relationship Type="http://schemas.openxmlformats.org/officeDocument/2006/relationships/notesSlide" Target="/ppt/notesSlides/notesSlide6.xml" Id="R614dc21277a747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e694723b648a8" /><Relationship Type="http://schemas.openxmlformats.org/officeDocument/2006/relationships/notesSlide" Target="/ppt/notesSlides/notesSlide7.xml" Id="Reb284b5c06f44a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2129b6e214b4c" /><Relationship Type="http://schemas.openxmlformats.org/officeDocument/2006/relationships/notesSlide" Target="/ppt/notesSlides/notesSlide8.xml" Id="R1756ff0114214e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C42FAF03-04A1-4292-91A0-A873DDB6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62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number">
            <a:extLst xmlns:a="http://schemas.openxmlformats.org/drawingml/2006/main">
              <a:ext uri="{FF2B5EF4-FFF2-40B4-BE49-F238E27FC236}">
                <a16:creationId xmlns:a16="http://schemas.microsoft.com/office/drawing/2014/main" id="{E87604E8-1CCE-4DF8-A6BA-F2566AF0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953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9회-2</a:t>
            </a:r>
          </a:p>
        </p:txBody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72951F32-E098-4390-B2FF-DD19830C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562100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UI &amp; 디자인 시스템</a:t>
            </a:r>
          </a:p>
        </p:txBody>
      </p:sp>
      <p:sp>
        <p:nvSpPr>
          <p:cNvPr id="4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EF2C28F1-A7BB-4421-98DD-958F8FA0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334155"/>
                </a:solidFill>
                <a:latin typeface="Arial"/>
                <a:ea typeface="Arial"/>
                <a:cs typeface="Arial"/>
              </a:rPr>
              <a:t>React UI · JSON Schema · Theme · Persona · Landing Page</a:t>
            </a:r>
          </a:p>
        </p:txBody>
      </p:sp>
      <p:sp>
        <p:nvSpPr>
          <p:cNvPr id="5" name="title-rule">
            <a:extLst xmlns:a="http://schemas.openxmlformats.org/drawingml/2006/main">
              <a:ext uri="{FF2B5EF4-FFF2-40B4-BE49-F238E27FC236}">
                <a16:creationId xmlns:a16="http://schemas.microsoft.com/office/drawing/2014/main" id="{0F06C5D9-EF4D-47F4-8286-55CE2198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71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C520110C-FC70-49D2-96D1-A63763D3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6712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64748B"/>
                </a:solidFill>
                <a:latin typeface="Arial"/>
                <a:ea typeface="Arial"/>
                <a:cs typeface="Arial"/>
              </a:rPr>
              <a:t>OpenMetadata 스터디</a:t>
            </a:r>
          </a:p>
        </p:txBody>
      </p:sp>
    </p:spTree>
    <p:extLst>
      <p:ext uri="{BB962C8B-B14F-4D97-AF65-F5344CB8AC3E}">
        <p14:creationId xmlns:p14="http://schemas.microsoft.com/office/powerpoint/2010/main" val="17184966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cent-2">
            <a:extLst xmlns:a="http://schemas.openxmlformats.org/drawingml/2006/main">
              <a:ext uri="{FF2B5EF4-FFF2-40B4-BE49-F238E27FC236}">
                <a16:creationId xmlns:a16="http://schemas.microsoft.com/office/drawing/2014/main" id="{297DCEB5-CBCB-4D89-8A2C-1B3CF182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2">
            <a:extLst xmlns:a="http://schemas.openxmlformats.org/drawingml/2006/main">
              <a:ext uri="{FF2B5EF4-FFF2-40B4-BE49-F238E27FC236}">
                <a16:creationId xmlns:a16="http://schemas.microsoft.com/office/drawing/2014/main" id="{6C62EA34-674E-4023-ABD5-8CFAA549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FRONTEND BUILD</a:t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4A1C7FBF-5945-4CDC-B40D-74EC615D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23875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title-2">
            <a:extLst xmlns:a="http://schemas.openxmlformats.org/drawingml/2006/main">
              <a:ext uri="{FF2B5EF4-FFF2-40B4-BE49-F238E27FC236}">
                <a16:creationId xmlns:a16="http://schemas.microsoft.com/office/drawing/2014/main" id="{9628CBE5-9161-4A66-8EEF-63A89DD6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Frontend 빌드 체계</a:t>
            </a:r>
          </a:p>
        </p:txBody>
      </p:sp>
      <p:sp>
        <p:nvSpPr>
          <p:cNvPr id="5" name="label-2">
            <a:extLst xmlns:a="http://schemas.openxmlformats.org/drawingml/2006/main">
              <a:ext uri="{FF2B5EF4-FFF2-40B4-BE49-F238E27FC236}">
                <a16:creationId xmlns:a16="http://schemas.microsoft.com/office/drawing/2014/main" id="{E4FB2F50-61E1-4F57-AA0D-ABAB8CCB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코드 위치  ·  openmetadata-ui/src/main/resources/ui</a:t>
            </a:r>
          </a:p>
        </p:txBody>
      </p:sp>
      <p:sp>
        <p:nvSpPr>
          <p:cNvPr id="6" name="line-2-0">
            <a:extLst xmlns:a="http://schemas.openxmlformats.org/drawingml/2006/main">
              <a:ext uri="{FF2B5EF4-FFF2-40B4-BE49-F238E27FC236}">
                <a16:creationId xmlns:a16="http://schemas.microsoft.com/office/drawing/2014/main" id="{175378F9-C1E0-4AF7-8C4A-54FDE6BF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React 기반 UI 프로젝트</a:t>
            </a:r>
          </a:p>
        </p:txBody>
      </p:sp>
      <p:sp>
        <p:nvSpPr>
          <p:cNvPr id="7" name="line-2-1">
            <a:extLst xmlns:a="http://schemas.openxmlformats.org/drawingml/2006/main">
              <a:ext uri="{FF2B5EF4-FFF2-40B4-BE49-F238E27FC236}">
                <a16:creationId xmlns:a16="http://schemas.microsoft.com/office/drawing/2014/main" id="{5824E418-548D-4885-BB5F-33DDFF3A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Node와 Yarn으로 의존성·스크립트 관리</a:t>
            </a:r>
          </a:p>
        </p:txBody>
      </p:sp>
      <p:sp>
        <p:nvSpPr>
          <p:cNvPr id="8" name="line-2-2">
            <a:extLst xmlns:a="http://schemas.openxmlformats.org/drawingml/2006/main">
              <a:ext uri="{FF2B5EF4-FFF2-40B4-BE49-F238E27FC236}">
                <a16:creationId xmlns:a16="http://schemas.microsoft.com/office/drawing/2014/main" id="{E89BCD82-85F9-4E88-91E7-D9E20E3A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Vite 개발 서버: package.json의 start</a:t>
            </a:r>
          </a:p>
        </p:txBody>
      </p:sp>
      <p:sp>
        <p:nvSpPr>
          <p:cNvPr id="9" name="code-box-2">
            <a:extLst xmlns:a="http://schemas.openxmlformats.org/drawingml/2006/main">
              <a:ext uri="{FF2B5EF4-FFF2-40B4-BE49-F238E27FC236}">
                <a16:creationId xmlns:a16="http://schemas.microsoft.com/office/drawing/2014/main" id="{D84F2448-1028-4195-AF18-A52624DD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43050"/>
            <a:ext cx="52578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10" name="code-2">
            <a:extLst xmlns:a="http://schemas.openxmlformats.org/drawingml/2006/main">
              <a:ext uri="{FF2B5EF4-FFF2-40B4-BE49-F238E27FC236}">
                <a16:creationId xmlns:a16="http://schemas.microsoft.com/office/drawing/2014/main" id="{0736E653-659E-4A02-A5D8-B01F179E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4781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make yarn_install_cache</a:t>
            </a:r>
          </a:p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make yarn_start_dev_ui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a77adc4784d66">
            <a:extLst>
              <a:ext uri="{96DAC541-7B7A-43D3-8B79-37D633B846F1}">
                <asvg:svgBlip xmlns:asvg="http://schemas.microsoft.com/office/drawing/2016/SVG/main" r:embed="R411ba8ee7f3c4c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3019425"/>
            <a:ext cx="9906000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121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cent-3">
            <a:extLst xmlns:a="http://schemas.openxmlformats.org/drawingml/2006/main">
              <a:ext uri="{FF2B5EF4-FFF2-40B4-BE49-F238E27FC236}">
                <a16:creationId xmlns:a16="http://schemas.microsoft.com/office/drawing/2014/main" id="{B5CB4B68-CE1D-4545-9770-B402573A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3">
            <a:extLst xmlns:a="http://schemas.openxmlformats.org/drawingml/2006/main">
              <a:ext uri="{FF2B5EF4-FFF2-40B4-BE49-F238E27FC236}">
                <a16:creationId xmlns:a16="http://schemas.microsoft.com/office/drawing/2014/main" id="{CD5AD079-876F-4EAA-A0AE-EE23C2ED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CONNECTOR UI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0C26BD51-E8ED-486C-9617-1E1CCD21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23875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09E87E78-FC45-49B5-8ADB-60867CEA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JSON Schema와 커넥터 UI</a:t>
            </a:r>
          </a:p>
        </p:txBody>
      </p:sp>
      <p:sp>
        <p:nvSpPr>
          <p:cNvPr id="5" name="label-3">
            <a:extLst xmlns:a="http://schemas.openxmlformats.org/drawingml/2006/main">
              <a:ext uri="{FF2B5EF4-FFF2-40B4-BE49-F238E27FC236}">
                <a16:creationId xmlns:a16="http://schemas.microsoft.com/office/drawing/2014/main" id="{42926AD3-60B6-40BF-9C4D-FB16553C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UI 페이지  ·  Settings &gt; Services &gt; Add New Service</a:t>
            </a:r>
          </a:p>
        </p:txBody>
      </p:sp>
      <p:sp>
        <p:nvSpPr>
          <p:cNvPr id="6" name="line-3-0">
            <a:extLst xmlns:a="http://schemas.openxmlformats.org/drawingml/2006/main">
              <a:ext uri="{FF2B5EF4-FFF2-40B4-BE49-F238E27FC236}">
                <a16:creationId xmlns:a16="http://schemas.microsoft.com/office/drawing/2014/main" id="{E2E8C591-FB4C-4282-B6D9-ECBF6593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Schema에서 연결 정보와 source_type을 정의</a:t>
            </a:r>
          </a:p>
        </p:txBody>
      </p:sp>
      <p:sp>
        <p:nvSpPr>
          <p:cNvPr id="7" name="line-3-1">
            <a:extLst xmlns:a="http://schemas.openxmlformats.org/drawingml/2006/main">
              <a:ext uri="{FF2B5EF4-FFF2-40B4-BE49-F238E27FC236}">
                <a16:creationId xmlns:a16="http://schemas.microsoft.com/office/drawing/2014/main" id="{1455751F-0406-412C-A9AA-FE74D635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quicktype으로 UI TypeScript 타입 생성</a:t>
            </a:r>
          </a:p>
        </p:txBody>
      </p:sp>
      <p:sp>
        <p:nvSpPr>
          <p:cNvPr id="8" name="line-3-2">
            <a:extLst xmlns:a="http://schemas.openxmlformats.org/drawingml/2006/main">
              <a:ext uri="{FF2B5EF4-FFF2-40B4-BE49-F238E27FC236}">
                <a16:creationId xmlns:a16="http://schemas.microsoft.com/office/drawing/2014/main" id="{7A626B6A-4F76-4F36-9B8B-5CA4866F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생성 타입과 연결 규칙을 UI에서 사용</a:t>
            </a:r>
          </a:p>
        </p:txBody>
      </p:sp>
      <p:sp>
        <p:nvSpPr>
          <p:cNvPr id="9" name="code-box-3">
            <a:extLst xmlns:a="http://schemas.openxmlformats.org/drawingml/2006/main">
              <a:ext uri="{FF2B5EF4-FFF2-40B4-BE49-F238E27FC236}">
                <a16:creationId xmlns:a16="http://schemas.microsoft.com/office/drawing/2014/main" id="{A7D6BCF4-D87F-4FB2-A94F-FE0CA56A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43050"/>
            <a:ext cx="52578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10" name="code-3">
            <a:extLst xmlns:a="http://schemas.openxmlformats.org/drawingml/2006/main">
              <a:ext uri="{FF2B5EF4-FFF2-40B4-BE49-F238E27FC236}">
                <a16:creationId xmlns:a16="http://schemas.microsoft.com/office/drawing/2014/main" id="{F8E7B6CA-CE54-407F-9FA4-A97FC457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4781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quicktype -s schema "$tmp_schema_file" \</a:t>
            </a:r>
          </a:p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+  -o "$output_file" --just-types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25529107f472b">
            <a:extLst>
              <a:ext uri="{96DAC541-7B7A-43D3-8B79-37D633B846F1}">
                <asvg:svgBlip xmlns:asvg="http://schemas.microsoft.com/office/drawing/2016/SVG/main" r:embed="R1df898d4a52347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3019425"/>
            <a:ext cx="9906000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079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cent-4">
            <a:extLst xmlns:a="http://schemas.openxmlformats.org/drawingml/2006/main">
              <a:ext uri="{FF2B5EF4-FFF2-40B4-BE49-F238E27FC236}">
                <a16:creationId xmlns:a16="http://schemas.microsoft.com/office/drawing/2014/main" id="{87694DD1-B927-4206-8D15-7CF1E973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4">
            <a:extLst xmlns:a="http://schemas.openxmlformats.org/drawingml/2006/main">
              <a:ext uri="{FF2B5EF4-FFF2-40B4-BE49-F238E27FC236}">
                <a16:creationId xmlns:a16="http://schemas.microsoft.com/office/drawing/2014/main" id="{E5B54885-5407-40AB-A076-EEDA89D1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THEME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7B5817C8-300C-4C30-9788-7B312B23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23875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title-4">
            <a:extLst xmlns:a="http://schemas.openxmlformats.org/drawingml/2006/main">
              <a:ext uri="{FF2B5EF4-FFF2-40B4-BE49-F238E27FC236}">
                <a16:creationId xmlns:a16="http://schemas.microsoft.com/office/drawing/2014/main" id="{E3F1871A-D238-4D27-97E7-9BF85D96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Theme &amp; 브랜딩</a:t>
            </a:r>
          </a:p>
        </p:txBody>
      </p:sp>
      <p:sp>
        <p:nvSpPr>
          <p:cNvPr id="5" name="label-4">
            <a:extLst xmlns:a="http://schemas.openxmlformats.org/drawingml/2006/main">
              <a:ext uri="{FF2B5EF4-FFF2-40B4-BE49-F238E27FC236}">
                <a16:creationId xmlns:a16="http://schemas.microsoft.com/office/drawing/2014/main" id="{4953F5FA-98CE-4B0D-8362-4B0C7702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UI 페이지  ·  Settings &gt; Preferences &gt; Theme</a:t>
            </a:r>
          </a:p>
        </p:txBody>
      </p:sp>
      <p:sp>
        <p:nvSpPr>
          <p:cNvPr id="6" name="line-4-0">
            <a:extLst xmlns:a="http://schemas.openxmlformats.org/drawingml/2006/main">
              <a:ext uri="{FF2B5EF4-FFF2-40B4-BE49-F238E27FC236}">
                <a16:creationId xmlns:a16="http://schemas.microsoft.com/office/drawing/2014/main" id="{21087CFF-C89F-4EE7-BCF4-6CC538EE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primaryColor: 기본 강조색·버튼·내비게이션</a:t>
            </a:r>
          </a:p>
        </p:txBody>
      </p:sp>
      <p:sp>
        <p:nvSpPr>
          <p:cNvPr id="7" name="line-4-1">
            <a:extLst xmlns:a="http://schemas.openxmlformats.org/drawingml/2006/main">
              <a:ext uri="{FF2B5EF4-FFF2-40B4-BE49-F238E27FC236}">
                <a16:creationId xmlns:a16="http://schemas.microsoft.com/office/drawing/2014/main" id="{92E72290-D5C6-4EC1-9D4C-3DF43936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hoverColor / selectedColor: 상태 색상</a:t>
            </a:r>
          </a:p>
        </p:txBody>
      </p:sp>
      <p:sp>
        <p:nvSpPr>
          <p:cNvPr id="8" name="line-4-2">
            <a:extLst xmlns:a="http://schemas.openxmlformats.org/drawingml/2006/main">
              <a:ext uri="{FF2B5EF4-FFF2-40B4-BE49-F238E27FC236}">
                <a16:creationId xmlns:a16="http://schemas.microsoft.com/office/drawing/2014/main" id="{4910AB27-1ACF-4162-AF90-B2218958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로고·모노그램·favicon: 브랜드 식별 요소</a:t>
            </a:r>
          </a:p>
        </p:txBody>
      </p:sp>
      <p:sp>
        <p:nvSpPr>
          <p:cNvPr id="9" name="code-box-4">
            <a:extLst xmlns:a="http://schemas.openxmlformats.org/drawingml/2006/main">
              <a:ext uri="{FF2B5EF4-FFF2-40B4-BE49-F238E27FC236}">
                <a16:creationId xmlns:a16="http://schemas.microsoft.com/office/drawing/2014/main" id="{FB1A0724-6004-4CE5-B58E-DD3CD285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47800"/>
            <a:ext cx="52578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10" name="code-4">
            <a:extLst xmlns:a="http://schemas.openxmlformats.org/drawingml/2006/main">
              <a:ext uri="{FF2B5EF4-FFF2-40B4-BE49-F238E27FC236}">
                <a16:creationId xmlns:a16="http://schemas.microsoft.com/office/drawing/2014/main" id="{697A22A6-9B92-4EC3-84BF-CEF72206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38300"/>
            <a:ext cx="4781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const palette = generatePalette(primaryColor);</a:t>
            </a:r>
          </a:p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const hover = savedHoverColor || palette[2];</a:t>
            </a:r>
          </a:p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const selected = savedSelectedColor || palette[8];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f07659d5e4546">
            <a:extLst>
              <a:ext uri="{96DAC541-7B7A-43D3-8B79-37D633B846F1}">
                <asvg:svgBlip xmlns:asvg="http://schemas.microsoft.com/office/drawing/2016/SVG/main" r:embed="Rfb1e50e962044e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3019425"/>
            <a:ext cx="9906000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3551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cent-5">
            <a:extLst xmlns:a="http://schemas.openxmlformats.org/drawingml/2006/main">
              <a:ext uri="{FF2B5EF4-FFF2-40B4-BE49-F238E27FC236}">
                <a16:creationId xmlns:a16="http://schemas.microsoft.com/office/drawing/2014/main" id="{B51DF25F-C73A-4CEE-87C9-D75852F5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5">
            <a:extLst xmlns:a="http://schemas.openxmlformats.org/drawingml/2006/main">
              <a:ext uri="{FF2B5EF4-FFF2-40B4-BE49-F238E27FC236}">
                <a16:creationId xmlns:a16="http://schemas.microsoft.com/office/drawing/2014/main" id="{2F2CDC1E-CBEF-4C15-A3AD-4066F5ED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PERSONA</a:t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4B3F1BE9-2868-4B62-966C-3EEFB16A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23875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title-5">
            <a:extLst xmlns:a="http://schemas.openxmlformats.org/drawingml/2006/main">
              <a:ext uri="{FF2B5EF4-FFF2-40B4-BE49-F238E27FC236}">
                <a16:creationId xmlns:a16="http://schemas.microsoft.com/office/drawing/2014/main" id="{9564F5CB-1EA2-49D4-8D4C-921C0162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Persona 기반 개인화</a:t>
            </a:r>
          </a:p>
        </p:txBody>
      </p:sp>
      <p:sp>
        <p:nvSpPr>
          <p:cNvPr id="5" name="label-5">
            <a:extLst xmlns:a="http://schemas.openxmlformats.org/drawingml/2006/main">
              <a:ext uri="{FF2B5EF4-FFF2-40B4-BE49-F238E27FC236}">
                <a16:creationId xmlns:a16="http://schemas.microsoft.com/office/drawing/2014/main" id="{460A3AFD-5951-44AF-B564-7B7912F2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UI 페이지  ·  Settings &gt; Personas</a:t>
            </a:r>
          </a:p>
        </p:txBody>
      </p:sp>
      <p:sp>
        <p:nvSpPr>
          <p:cNvPr id="6" name="line-5-0">
            <a:extLst xmlns:a="http://schemas.openxmlformats.org/drawingml/2006/main">
              <a:ext uri="{FF2B5EF4-FFF2-40B4-BE49-F238E27FC236}">
                <a16:creationId xmlns:a16="http://schemas.microsoft.com/office/drawing/2014/main" id="{ADCEE9E4-A72B-42A8-A319-62100FE9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Persona: 역할별 UI 구성을 위한 엔티티</a:t>
            </a:r>
          </a:p>
        </p:txBody>
      </p:sp>
      <p:sp>
        <p:nvSpPr>
          <p:cNvPr id="7" name="line-5-1">
            <a:extLst xmlns:a="http://schemas.openxmlformats.org/drawingml/2006/main">
              <a:ext uri="{FF2B5EF4-FFF2-40B4-BE49-F238E27FC236}">
                <a16:creationId xmlns:a16="http://schemas.microsoft.com/office/drawing/2014/main" id="{025254DB-CFF2-4EB2-A03C-1807302E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User: 기본 Persona를 지정</a:t>
            </a:r>
          </a:p>
        </p:txBody>
      </p:sp>
      <p:sp>
        <p:nvSpPr>
          <p:cNvPr id="8" name="line-5-2">
            <a:extLst xmlns:a="http://schemas.openxmlformats.org/drawingml/2006/main">
              <a:ext uri="{FF2B5EF4-FFF2-40B4-BE49-F238E27FC236}">
                <a16:creationId xmlns:a16="http://schemas.microsoft.com/office/drawing/2014/main" id="{8CC4AD6B-475A-49C0-BB73-95486CB4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Selected Persona: 현재 화면이 참조하는 Persona</a:t>
            </a:r>
          </a:p>
        </p:txBody>
      </p:sp>
      <p:sp>
        <p:nvSpPr>
          <p:cNvPr id="9" name="code-box-5">
            <a:extLst xmlns:a="http://schemas.openxmlformats.org/drawingml/2006/main">
              <a:ext uri="{FF2B5EF4-FFF2-40B4-BE49-F238E27FC236}">
                <a16:creationId xmlns:a16="http://schemas.microsoft.com/office/drawing/2014/main" id="{90164D59-8E8F-4B7A-A60F-A7C44A0B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2578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10" name="code-5">
            <a:extLst xmlns:a="http://schemas.openxmlformats.org/drawingml/2006/main">
              <a:ext uri="{FF2B5EF4-FFF2-40B4-BE49-F238E27FC236}">
                <a16:creationId xmlns:a16="http://schemas.microsoft.com/office/drawing/2014/main" id="{2C27D41D-8969-4CC4-825D-69EAE5C1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4781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const pageFQN =</a:t>
            </a:r>
          </a:p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  `${EntityType.PERSONA}.${selectedPersona?.fullyQualifiedName}`;</a:t>
            </a:r>
          </a:p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const doc = await getDocumentByFQN(pageFQN);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b38dde5844b73">
            <a:extLst>
              <a:ext uri="{96DAC541-7B7A-43D3-8B79-37D633B846F1}">
                <asvg:svgBlip xmlns:asvg="http://schemas.microsoft.com/office/drawing/2016/SVG/main" r:embed="Rea418e27b843478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3019425"/>
            <a:ext cx="9906000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0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cent-6">
            <a:extLst xmlns:a="http://schemas.openxmlformats.org/drawingml/2006/main">
              <a:ext uri="{FF2B5EF4-FFF2-40B4-BE49-F238E27FC236}">
                <a16:creationId xmlns:a16="http://schemas.microsoft.com/office/drawing/2014/main" id="{BB81491B-90DD-4A15-B917-37B7BF43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898513A6-6C2D-4FC9-9449-5C888C0D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LANDING PAGE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6B22C54B-D7C8-4C8C-8AB2-68ADFFEC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23875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itle-6">
            <a:extLst xmlns:a="http://schemas.openxmlformats.org/drawingml/2006/main">
              <a:ext uri="{FF2B5EF4-FFF2-40B4-BE49-F238E27FC236}">
                <a16:creationId xmlns:a16="http://schemas.microsoft.com/office/drawing/2014/main" id="{CD0B1F9E-B601-4980-A260-6C15ECD5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커스터마이즈 가능한 Landing Page</a:t>
            </a:r>
          </a:p>
        </p:txBody>
      </p:sp>
      <p:sp>
        <p:nvSpPr>
          <p:cNvPr id="5" name="label-6">
            <a:extLst xmlns:a="http://schemas.openxmlformats.org/drawingml/2006/main">
              <a:ext uri="{FF2B5EF4-FFF2-40B4-BE49-F238E27FC236}">
                <a16:creationId xmlns:a16="http://schemas.microsoft.com/office/drawing/2014/main" id="{D07BA37E-288F-44A2-AB90-F4A10839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설정  ·  Settings &gt; Personas &gt; &lt;Persona&gt; &gt; Customize UI &gt; Landing Page</a:t>
            </a:r>
          </a:p>
        </p:txBody>
      </p:sp>
      <p:sp>
        <p:nvSpPr>
          <p:cNvPr id="6" name="render-label-6">
            <a:extLst xmlns:a="http://schemas.openxmlformats.org/drawingml/2006/main">
              <a:ext uri="{FF2B5EF4-FFF2-40B4-BE49-F238E27FC236}">
                <a16:creationId xmlns:a16="http://schemas.microsoft.com/office/drawing/2014/main" id="{E3B77EEC-327E-4168-90B2-65DB8103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렌더링  ·  Home / My Data</a:t>
            </a:r>
          </a:p>
        </p:txBody>
      </p:sp>
      <p:sp>
        <p:nvSpPr>
          <p:cNvPr id="7" name="line-6-0">
            <a:extLst xmlns:a="http://schemas.openxmlformats.org/drawingml/2006/main">
              <a:ext uri="{FF2B5EF4-FFF2-40B4-BE49-F238E27FC236}">
                <a16:creationId xmlns:a16="http://schemas.microsoft.com/office/drawing/2014/main" id="{FF77A14D-871D-4ACE-92D2-1B304AE2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Persona별로 위젯 추가·제거·재배열</a:t>
            </a:r>
          </a:p>
        </p:txBody>
      </p:sp>
      <p:sp>
        <p:nvSpPr>
          <p:cNvPr id="8" name="line-6-1">
            <a:extLst xmlns:a="http://schemas.openxmlformats.org/drawingml/2006/main">
              <a:ext uri="{FF2B5EF4-FFF2-40B4-BE49-F238E27FC236}">
                <a16:creationId xmlns:a16="http://schemas.microsoft.com/office/drawing/2014/main" id="{8EE62768-8C53-4916-B1AE-D8A4474A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저장된 레이아웃을 선택 Persona 기준으로 조회</a:t>
            </a:r>
          </a:p>
        </p:txBody>
      </p:sp>
      <p:sp>
        <p:nvSpPr>
          <p:cNvPr id="9" name="line-6-2">
            <a:extLst xmlns:a="http://schemas.openxmlformats.org/drawingml/2006/main">
              <a:ext uri="{FF2B5EF4-FFF2-40B4-BE49-F238E27FC236}">
                <a16:creationId xmlns:a16="http://schemas.microsoft.com/office/drawing/2014/main" id="{567F1A4C-A5C6-4745-ACEE-34A11634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•  대표 위젯: Activity Feed · KPI · Tasks · Recently Viewed</a:t>
            </a:r>
          </a:p>
        </p:txBody>
      </p:sp>
      <p:sp>
        <p:nvSpPr>
          <p:cNvPr id="10" name="code-box-6">
            <a:extLst xmlns:a="http://schemas.openxmlformats.org/drawingml/2006/main">
              <a:ext uri="{FF2B5EF4-FFF2-40B4-BE49-F238E27FC236}">
                <a16:creationId xmlns:a16="http://schemas.microsoft.com/office/drawing/2014/main" id="{4CE9687C-2F14-42F3-8022-8DCBBDE5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76400"/>
            <a:ext cx="52578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11" name="code-6">
            <a:extLst xmlns:a="http://schemas.openxmlformats.org/drawingml/2006/main">
              <a:ext uri="{FF2B5EF4-FFF2-40B4-BE49-F238E27FC236}">
                <a16:creationId xmlns:a16="http://schemas.microsoft.com/office/drawing/2014/main" id="{BF4CB942-6394-4945-B411-39234F14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66900"/>
            <a:ext cx="4781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const customizedPage = doc.data?.pages?.find(</a:t>
            </a:r>
          </a:p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  (page) =&gt; page?.pageType === pageType</a:t>
            </a:r>
          </a:p>
          <a:p xmlns:a="http://schemas.openxmlformats.org/drawingml/2006/main">
            <a:pPr>
              <a:def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defRPr>
            </a:pPr>
            <a:r>
              <a:rPr sz="1275">
                <a:solidFill>
                  <a:srgbClr val="E2E8F0"/>
                </a:solidFill>
                <a:latin typeface="Courier New"/>
                <a:ea typeface="Courier New"/>
                <a:cs typeface="Courier New"/>
              </a:rPr>
              <a:t>);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85ae0f654342cc">
            <a:extLst>
              <a:ext uri="{96DAC541-7B7A-43D3-8B79-37D633B846F1}">
                <asvg:svgBlip xmlns:asvg="http://schemas.microsoft.com/office/drawing/2016/SVG/main" r:embed="Raaca535ce2ce4f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3019425"/>
            <a:ext cx="9906000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4820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cent-7">
            <a:extLst xmlns:a="http://schemas.openxmlformats.org/drawingml/2006/main">
              <a:ext uri="{FF2B5EF4-FFF2-40B4-BE49-F238E27FC236}">
                <a16:creationId xmlns:a16="http://schemas.microsoft.com/office/drawing/2014/main" id="{A5D83AEF-F354-4465-AA3B-5CE89B4C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7">
            <a:extLst xmlns:a="http://schemas.openxmlformats.org/drawingml/2006/main">
              <a:ext uri="{FF2B5EF4-FFF2-40B4-BE49-F238E27FC236}">
                <a16:creationId xmlns:a16="http://schemas.microsoft.com/office/drawing/2014/main" id="{6F669BFE-AFB9-42B2-9445-21D721A7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6A487937-1E28-4AAA-98EB-58A3D1BD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23875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title-7">
            <a:extLst xmlns:a="http://schemas.openxmlformats.org/drawingml/2006/main">
              <a:ext uri="{FF2B5EF4-FFF2-40B4-BE49-F238E27FC236}">
                <a16:creationId xmlns:a16="http://schemas.microsoft.com/office/drawing/2014/main" id="{C8A71058-F703-486F-AF81-72BAF8F1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데모 순서 · 10분</a:t>
            </a:r>
          </a:p>
        </p:txBody>
      </p:sp>
      <p:sp>
        <p:nvSpPr>
          <p:cNvPr id="5" name="step-number-0">
            <a:extLst xmlns:a="http://schemas.openxmlformats.org/drawingml/2006/main">
              <a:ext uri="{FF2B5EF4-FFF2-40B4-BE49-F238E27FC236}">
                <a16:creationId xmlns:a16="http://schemas.microsoft.com/office/drawing/2014/main" id="{B0BA0D79-A2EB-4638-89D5-92894F23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781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1562CD16-DC42-4F81-8122-94ADDCE8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7907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UI 개발 서버 실행</a:t>
            </a:r>
          </a:p>
        </p:txBody>
      </p:sp>
      <p:sp>
        <p:nvSpPr>
          <p:cNvPr id="7" name="step-body-0">
            <a:extLst xmlns:a="http://schemas.openxmlformats.org/drawingml/2006/main">
              <a:ext uri="{FF2B5EF4-FFF2-40B4-BE49-F238E27FC236}">
                <a16:creationId xmlns:a16="http://schemas.microsoft.com/office/drawing/2014/main" id="{FFB0FBB4-05E4-417C-BC5C-12542A44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2098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make yarn_install_cache → make yarn_start_dev_ui</a:t>
            </a:r>
          </a:p>
        </p:txBody>
      </p:sp>
      <p:sp>
        <p:nvSpPr>
          <p:cNvPr id="8" name="step-rule-0">
            <a:extLst xmlns:a="http://schemas.openxmlformats.org/drawingml/2006/main">
              <a:ext uri="{FF2B5EF4-FFF2-40B4-BE49-F238E27FC236}">
                <a16:creationId xmlns:a16="http://schemas.microsoft.com/office/drawing/2014/main" id="{35286AE5-2DFA-4A0F-9696-76BF0A6F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ep-number-1">
            <a:extLst xmlns:a="http://schemas.openxmlformats.org/drawingml/2006/main">
              <a:ext uri="{FF2B5EF4-FFF2-40B4-BE49-F238E27FC236}">
                <a16:creationId xmlns:a16="http://schemas.microsoft.com/office/drawing/2014/main" id="{A5A5FF47-A543-4D5A-A544-606A6D48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781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76D3111E-D523-48B6-B11B-2B4B5B60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1432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Theme 변경 확인</a:t>
            </a:r>
          </a:p>
        </p:txBody>
      </p:sp>
      <p:sp>
        <p:nvSpPr>
          <p:cNvPr id="11" name="step-body-1">
            <a:extLst xmlns:a="http://schemas.openxmlformats.org/drawingml/2006/main">
              <a:ext uri="{FF2B5EF4-FFF2-40B4-BE49-F238E27FC236}">
                <a16:creationId xmlns:a16="http://schemas.microsoft.com/office/drawing/2014/main" id="{568B32F1-C464-4E31-9A5C-EE7D5D99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623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Settings &gt; Preferences &gt; Theme에서 Primary Color 변경</a:t>
            </a:r>
          </a:p>
        </p:txBody>
      </p:sp>
      <p:sp>
        <p:nvSpPr>
          <p:cNvPr id="12" name="step-rule-1">
            <a:extLst xmlns:a="http://schemas.openxmlformats.org/drawingml/2006/main">
              <a:ext uri="{FF2B5EF4-FFF2-40B4-BE49-F238E27FC236}">
                <a16:creationId xmlns:a16="http://schemas.microsoft.com/office/drawing/2014/main" id="{84FBFF10-E486-4A26-9A3E-B9A68532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ep-number-2">
            <a:extLst xmlns:a="http://schemas.openxmlformats.org/drawingml/2006/main">
              <a:ext uri="{FF2B5EF4-FFF2-40B4-BE49-F238E27FC236}">
                <a16:creationId xmlns:a16="http://schemas.microsoft.com/office/drawing/2014/main" id="{907D7FBB-D7F2-447C-8F3D-4EA706F1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81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F0D8EC9D-0DEB-4B13-97FF-650CD4BF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4958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Persona Landing Page 편집</a:t>
            </a:r>
          </a:p>
        </p:txBody>
      </p:sp>
      <p:sp>
        <p:nvSpPr>
          <p:cNvPr id="15" name="step-body-2">
            <a:extLst xmlns:a="http://schemas.openxmlformats.org/drawingml/2006/main">
              <a:ext uri="{FF2B5EF4-FFF2-40B4-BE49-F238E27FC236}">
                <a16:creationId xmlns:a16="http://schemas.microsoft.com/office/drawing/2014/main" id="{5890CEDA-9A8E-4301-970A-7B3BBBA5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14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4155"/>
                </a:solidFill>
                <a:latin typeface="Arial"/>
                <a:ea typeface="Arial"/>
                <a:cs typeface="Arial"/>
              </a:rPr>
              <a:t>Persona 생성 후 위젯 추가·제거·재배열</a:t>
            </a:r>
          </a:p>
        </p:txBody>
      </p:sp>
    </p:spTree>
    <p:extLst>
      <p:ext uri="{BB962C8B-B14F-4D97-AF65-F5344CB8AC3E}">
        <p14:creationId xmlns:p14="http://schemas.microsoft.com/office/powerpoint/2010/main" val="2297901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8">
            <a:extLst xmlns:a="http://schemas.openxmlformats.org/drawingml/2006/main">
              <a:ext uri="{FF2B5EF4-FFF2-40B4-BE49-F238E27FC236}">
                <a16:creationId xmlns:a16="http://schemas.microsoft.com/office/drawing/2014/main" id="{188A55A2-E9AB-42F5-B12E-C9AFA5AE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8">
            <a:extLst xmlns:a="http://schemas.openxmlformats.org/drawingml/2006/main">
              <a:ext uri="{FF2B5EF4-FFF2-40B4-BE49-F238E27FC236}">
                <a16:creationId xmlns:a16="http://schemas.microsoft.com/office/drawing/2014/main" id="{EC6ABA1F-4DF9-4BF9-BAF4-F00FD306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DISCUSSION</a:t>
            </a:r>
          </a:p>
        </p:txBody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5260A2FF-00F0-40A6-BBEA-B5E122C8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23875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57D8ED6F-7528-4946-B4E2-F587D816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확인할 질문과 코드 경로</a:t>
            </a:r>
          </a:p>
        </p:txBody>
      </p:sp>
      <p:sp>
        <p:nvSpPr>
          <p:cNvPr id="5" name="question-number-0">
            <a:extLst xmlns:a="http://schemas.openxmlformats.org/drawingml/2006/main">
              <a:ext uri="{FF2B5EF4-FFF2-40B4-BE49-F238E27FC236}">
                <a16:creationId xmlns:a16="http://schemas.microsoft.com/office/drawing/2014/main" id="{A03D61FE-CD87-44D1-8A16-B7EA4365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question-0">
            <a:extLst xmlns:a="http://schemas.openxmlformats.org/drawingml/2006/main">
              <a:ext uri="{FF2B5EF4-FFF2-40B4-BE49-F238E27FC236}">
                <a16:creationId xmlns:a16="http://schemas.microsoft.com/office/drawing/2014/main" id="{CCC28567-EFBC-49AC-81CD-15F8B3E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668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0F172A"/>
                </a:solidFill>
                <a:latin typeface="Arial"/>
                <a:ea typeface="Arial"/>
                <a:cs typeface="Arial"/>
              </a:rPr>
              <a:t>JSON Schema 변경 뒤 타입 생성과 UI 연결은 어느 지점에서 확인하는가?</a:t>
            </a:r>
          </a:p>
        </p:txBody>
      </p:sp>
      <p:sp>
        <p:nvSpPr>
          <p:cNvPr id="7" name="question-number-1">
            <a:extLst xmlns:a="http://schemas.openxmlformats.org/drawingml/2006/main">
              <a:ext uri="{FF2B5EF4-FFF2-40B4-BE49-F238E27FC236}">
                <a16:creationId xmlns:a16="http://schemas.microsoft.com/office/drawing/2014/main" id="{191C015F-54B8-4158-9A46-BA57FBF1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9077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question-1">
            <a:extLst xmlns:a="http://schemas.openxmlformats.org/drawingml/2006/main">
              <a:ext uri="{FF2B5EF4-FFF2-40B4-BE49-F238E27FC236}">
                <a16:creationId xmlns:a16="http://schemas.microsoft.com/office/drawing/2014/main" id="{C24D7E49-315B-4DC2-B1DA-22A1BCA6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90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0F172A"/>
                </a:solidFill>
                <a:latin typeface="Arial"/>
                <a:ea typeface="Arial"/>
                <a:cs typeface="Arial"/>
              </a:rPr>
              <a:t>Persona와 Pluggable Panel 설정은 어떤 UI 페이지에서 관리하는가?</a:t>
            </a:r>
          </a:p>
        </p:txBody>
      </p:sp>
      <p:sp>
        <p:nvSpPr>
          <p:cNvPr id="9" name="question-number-2">
            <a:extLst xmlns:a="http://schemas.openxmlformats.org/drawingml/2006/main">
              <a:ext uri="{FF2B5EF4-FFF2-40B4-BE49-F238E27FC236}">
                <a16:creationId xmlns:a16="http://schemas.microsoft.com/office/drawing/2014/main" id="{D6980C21-46DA-45E3-9323-F29F6F0F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1467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question-2">
            <a:extLst xmlns:a="http://schemas.openxmlformats.org/drawingml/2006/main">
              <a:ext uri="{FF2B5EF4-FFF2-40B4-BE49-F238E27FC236}">
                <a16:creationId xmlns:a16="http://schemas.microsoft.com/office/drawing/2014/main" id="{828FE0B2-AA2D-46AE-91E6-2F72F447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146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0F172A"/>
                </a:solidFill>
                <a:latin typeface="Arial"/>
                <a:ea typeface="Arial"/>
                <a:cs typeface="Arial"/>
              </a:rPr>
              <a:t>디자인 시스템 관련 소스는 어느 경로부터 추적하는가?</a:t>
            </a:r>
          </a:p>
        </p:txBody>
      </p:sp>
      <p:sp>
        <p:nvSpPr>
          <p:cNvPr id="11" name="sources-rule">
            <a:extLst xmlns:a="http://schemas.openxmlformats.org/drawingml/2006/main">
              <a:ext uri="{FF2B5EF4-FFF2-40B4-BE49-F238E27FC236}">
                <a16:creationId xmlns:a16="http://schemas.microsoft.com/office/drawing/2014/main" id="{A58482DC-2009-4B96-BBCB-EDB75C4B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eading-heading">
            <a:extLst xmlns:a="http://schemas.openxmlformats.org/drawingml/2006/main">
              <a:ext uri="{FF2B5EF4-FFF2-40B4-BE49-F238E27FC236}">
                <a16:creationId xmlns:a16="http://schemas.microsoft.com/office/drawing/2014/main" id="{8302D764-5173-40AD-B555-176A866B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필수 읽기</a:t>
            </a:r>
          </a:p>
        </p:txBody>
      </p:sp>
      <p:sp>
        <p:nvSpPr>
          <p:cNvPr id="13" name="reading-list">
            <a:extLst xmlns:a="http://schemas.openxmlformats.org/drawingml/2006/main">
              <a:ext uri="{FF2B5EF4-FFF2-40B4-BE49-F238E27FC236}">
                <a16:creationId xmlns:a16="http://schemas.microsoft.com/office/drawing/2014/main" id="{B28A823C-18A1-481F-8CD1-63869049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2025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defRPr>
            </a:pPr>
            <a:r>
              <a: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rPr>
              <a:t>[docs]/developers/contribute/build-code-and-run-tests/openmetadata-ui.md</a:t>
            </a:r>
          </a:p>
          <a:p xmlns:a="http://schemas.openxmlformats.org/drawingml/2006/main">
            <a:pPr>
              <a:def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defRPr>
            </a:pPr>
            <a:r>
              <a: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rPr>
              <a:t>[docs]/developers/contribute/build-code-and-run-tests/generate-types-from-json-schema.md</a:t>
            </a:r>
          </a:p>
          <a:p xmlns:a="http://schemas.openxmlformats.org/drawingml/2006/main">
            <a:pPr>
              <a:def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defRPr>
            </a:pPr>
            <a:r>
              <a: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rPr>
              <a:t>[docs]/how-to-guides/guide-for-data-users/theme.md</a:t>
            </a:r>
          </a:p>
          <a:p xmlns:a="http://schemas.openxmlformats.org/drawingml/2006/main">
            <a:pPr>
              <a:def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defRPr>
            </a:pPr>
            <a:r>
              <a: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rPr>
              <a:t>[docs]/how-to-guides/admin-guide/persona-landing-page-customization/</a:t>
            </a:r>
          </a:p>
        </p:txBody>
      </p:sp>
      <p:sp>
        <p:nvSpPr>
          <p:cNvPr id="14" name="reading-list-continuation">
            <a:extLst xmlns:a="http://schemas.openxmlformats.org/drawingml/2006/main">
              <a:ext uri="{FF2B5EF4-FFF2-40B4-BE49-F238E27FC236}">
                <a16:creationId xmlns:a16="http://schemas.microsoft.com/office/drawing/2014/main" id="{47440C60-B406-4A19-BFD3-68C71F9D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53125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defRPr>
            </a:pPr>
            <a:r>
              <a:rPr sz="1200">
                <a:solidFill>
                  <a:srgbClr val="334155"/>
                </a:solidFill>
                <a:latin typeface="Courier New"/>
                <a:ea typeface="Courier New"/>
                <a:cs typeface="Courier New"/>
              </a:rPr>
              <a:t>defining-persona.md · customizing-landing-page.md</a:t>
            </a:r>
          </a:p>
        </p:txBody>
      </p:sp>
    </p:spTree>
    <p:extLst>
      <p:ext uri="{BB962C8B-B14F-4D97-AF65-F5344CB8AC3E}">
        <p14:creationId xmlns:p14="http://schemas.microsoft.com/office/powerpoint/2010/main" val="7463743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2026-07-31T01:23:04.9150000Z</dcterms:created>
  <dcterms:modified xsi:type="dcterms:W3CDTF">2026-07-31T01:23:04.9150000Z</dcterms:modified>
</coreProperties>
</file>